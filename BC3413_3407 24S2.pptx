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4400000" cx="14400000"/>
  <p:notesSz cx="6858000" cy="9144000"/>
  <p:embeddedFontLst>
    <p:embeddedFont>
      <p:font typeface="Economica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35">
          <p15:clr>
            <a:srgbClr val="A4A3A4"/>
          </p15:clr>
        </p15:guide>
        <p15:guide id="2" pos="45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35" orient="horz"/>
        <p:guide pos="453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bold.fntdata"/><Relationship Id="rId25" Type="http://schemas.openxmlformats.org/officeDocument/2006/relationships/font" Target="fonts/Economica-regular.fntdata"/><Relationship Id="rId28" Type="http://schemas.openxmlformats.org/officeDocument/2006/relationships/font" Target="fonts/Economica-boldItalic.fntdata"/><Relationship Id="rId27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2eb93e856_0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2eb93e8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&lt;!DOCTYPE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html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="en"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meta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="UTF-8"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="stylesheet"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="text/css"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="/static/styling.css"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"Bookman Old Style"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medium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#9C1A1C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myClass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#dddddd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h1_style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chocolate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 solid yellow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leftbox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#97bfff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rightbox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absolute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400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chartreuse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cadetblue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hover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black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ul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beige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smallbox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lightslategray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&gt;Title&lt;/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="myClass"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="leftbox"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&gt;my other content....&lt;/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="rightbox"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This is the right box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="smallbox"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&gt;Link 1&lt;/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&gt;Link 2&lt;/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&gt;Link 3&lt;/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:]  %}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{{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4fd0a022d_1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4fd0a022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"Hello!"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how to get 22?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22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how to get [22, 33]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200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how to get 200?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}[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how to get ["a", "b"]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}.keys())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["a", "b"]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(list({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}.keys())[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list_data = 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list_data: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(each)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11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(list_data)):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(index, list_data[index])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#0, 11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index, data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(list_data):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(index, data)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0, 11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mix_n_match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(data1, data2):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#[11, 22], (100, 200) input arguments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data_result = []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(data1)):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data_result.append(data1[index] + data2[index])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data_result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(mix_n_match([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748e1ef2b_4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748e1ef2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Demo: Create a simple program to print timetable to file.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* 2 = 2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number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"Enter a number for timetable:"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number+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f"timetable_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.txt"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fp: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* j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=fp)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ValueError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number is not valid."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bd996f0d0_52_3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bd996f0d0_5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&lt;!DOCTYPE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html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="en"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meta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="UTF-8"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&gt;My First Webpage&lt;/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redstyle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&gt;Header 1&lt;/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&gt;Header 2&lt;/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="redstyle"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for text paragraph&lt;/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for another paragraph&lt;/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&gt;First item in ol&lt;/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&gt;Second item&lt;/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&gt;First bullet&lt;/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&gt;Second bullet&lt;/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-GB" sz="1200">
                <a:solidFill>
                  <a:srgbClr val="174AD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="https://www.channelnewsasia.com/"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&gt;News Link&lt;/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requests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bs4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BeautifulSoup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"Week3_page1.html"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soup = BeautifulSoup(r.read(),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'html.parser'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(soup.find(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(soup.find(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06b43bb64_0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06b43bb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06b43bb64_0_7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06b43bb6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06b43bb64_0_14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06b43bb6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"news.csv"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csv_pointer = csv.reader(f)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csv_pointer: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(line)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54a98a739_5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54a98a739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News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news):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.news_headline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.news_article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.news_category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.full_text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.clean_text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.words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.full_text)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f"&lt;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.words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words&gt; in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.news_category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.news_headline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FinanceNews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news):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Symbol,news_headline,news_article,news_category,full_text,clean_text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.symbol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.symbol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&lt;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.words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words&gt; in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.news_category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.news_headline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news_instances = []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"news.csv"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csv_pointer = csv.reader(f)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line_no  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csv_pointer: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line_no !=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news_obj = News(line)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news_instances.append(news_obj)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line_no +=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"finance_news.csv"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csv_pointer = csv.reader(f)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line_no  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csv_pointer: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line_no !=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news_obj = FinanceNews(line)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news_instances.append(news_obj)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line_no +=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(news_instances[i])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 # revision, last 5 news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(news_instances[-i])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33B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54a98a739_5_15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54a98a739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 SQL TASK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sqlite3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establish connection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conn = sqlite3.connect(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"salaries.db"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get cursor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cursor = conn.cursor()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SQL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a. Executives who earn more than $1m.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 = "SELECT * FROM salaryTable WHERE Salary &gt; 1000000;"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b. Company names in the industry of Health Care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 = "SELECT CompanyName FROM salaryTable WHERE CompanyType = 'Health Care';"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c. Executives who earn more than $1m and in the Utilities industry.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 = "SELECT * from salaryTable where salary &gt; 1000000 and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CompanyType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'Utilities';"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d. Which executive received the highest salary?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 = "SELECT * from salaryTable order by Salary desc limit 1;"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 = "SELECT CONCAT(ExecutiveLName, ' ', ExecutiveFName), Salary FROM salaryTable WHERE Salary = (SELECT MAX(Salary) FROM salaryTable);"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 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67D17"/>
                </a:solidFill>
                <a:highlight>
                  <a:srgbClr val="EDFCED"/>
                </a:highlight>
                <a:latin typeface="Courier New"/>
                <a:ea typeface="Courier New"/>
                <a:cs typeface="Courier New"/>
                <a:sym typeface="Courier New"/>
              </a:rPr>
              <a:t>SELECT CONCAT(ExecutiveLName, ' ', ExecutiveFName), Salary FROM salaryTable WHERE Salary = (SELECT MAX(Salary) FROM salaryTable);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cursor.execute(SQL)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cursor.fetchal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l(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8080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each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946e30daf_9_1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946e30daf_9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946e30daf_18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946e30da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946e30daf_11_1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946e30daf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946e30daf_41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946e30daf_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946e30daf_40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946e30daf_4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946e30daf_39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946e30daf_3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946e30daf_29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946e30daf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946e30daf_28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946e30daf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946e30daf_9_6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946e30daf_9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import matplotlib.pyplot as plt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import seaborn as sns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df = pd.read_csv("employee.csv")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pd.set_option("display.max_rows", None)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pd.set_option("display.max_columns", None)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print(df)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####################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fig, ax = plt.subplots()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df.plot(kind="box", y="DailyRate", ax=ax)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fig.savefig("DailyRate.jpg")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######################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sns.countplot(data=df, x="Attrition", hue="Education", ax=ax)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fig.savefig("attrition.jpg")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########################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sns.countplot(data=df, x="Attrition", hue="EnvironmentSatisfaction")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########################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df.EnvironmentSatisfaction = df.EnvironmentSatisfaction.map({1: "Low", 2:'Medium', 3: 'High', 4: 'Very High'})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sns.countplot(data=df, x="Attrition", hue="EnvironmentSatisfaction")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10448c2b2_4_0:notes"/>
          <p:cNvSpPr/>
          <p:nvPr>
            <p:ph idx="2" type="sldImg"/>
          </p:nvPr>
        </p:nvSpPr>
        <p:spPr>
          <a:xfrm>
            <a:off x="1714784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10448c2b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321280" y="2118495"/>
            <a:ext cx="1703451" cy="314941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8375250" y="9145743"/>
            <a:ext cx="1703451" cy="314941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794803" y="4043409"/>
            <a:ext cx="4810200" cy="430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794803" y="8725334"/>
            <a:ext cx="4810200" cy="19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11962002" y="1288469"/>
            <a:ext cx="1703451" cy="314941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734528" y="9962121"/>
            <a:ext cx="1703451" cy="314941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1218425" y="5057428"/>
            <a:ext cx="11963400" cy="42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14126194"/>
            <a:ext cx="144000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90866" y="3430201"/>
            <a:ext cx="62991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7610079" y="3430201"/>
            <a:ext cx="62991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90866" y="1555486"/>
            <a:ext cx="4422300" cy="21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90866" y="3917830"/>
            <a:ext cx="4422300" cy="77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14126194"/>
            <a:ext cx="144000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772047" y="1260262"/>
            <a:ext cx="9257700" cy="1145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7200000" y="-70"/>
            <a:ext cx="72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7920748" y="12585827"/>
            <a:ext cx="73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418110" y="2601645"/>
            <a:ext cx="6370200" cy="50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418110" y="7752233"/>
            <a:ext cx="6370200" cy="4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7778740" y="2027507"/>
            <a:ext cx="6042600" cy="103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503150" y="11811514"/>
            <a:ext cx="9447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14126194"/>
            <a:ext cx="144000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490866" y="2679615"/>
            <a:ext cx="13418400" cy="59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90866" y="8852493"/>
            <a:ext cx="13418400" cy="30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3342453" y="13055375"/>
            <a:ext cx="8640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218425" y="5057428"/>
            <a:ext cx="11963400" cy="42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BC3413/3407</a:t>
            </a:r>
            <a:endParaRPr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(2024 S2)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1 Recap - See speaker notes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-206509" y="1440176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0" y="3430200"/>
            <a:ext cx="7200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task1_summing_numbers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(numbers):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total 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a total variable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index, data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(numbers):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for loop to loop through the index and number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index %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if the current index is even index 0, 2, 4...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 += data   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add the number to total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"..adding 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data)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total is 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total)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return the total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num_list = 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56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task1_summing_numbers(num_list)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772400" y="3430200"/>
            <a:ext cx="5562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task2_keyword_search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string_list = []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user_input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"Enter a sentence:"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prompt user for sentence input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keyword 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"fake"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initilize a string keyword containing "fake"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filtered_list = []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initilize another filtered_list starts with empty list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(user_input) &gt;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string_list.append(user_input)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append the sentence to string_list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keyword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user_input: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if keyword in the sentence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filtered_list.append(user_input)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append to filtered list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user_input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"Enter a sentence:"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prompt for user input again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string containing keywords:"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filtered_list)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task2_keyword_search()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09600" y="6049725"/>
            <a:ext cx="4572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task3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the string_text variable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# split the string_text into list and keep in a list var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# initialize vowels list var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# initialize consonant list var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# loop through the string_text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# if current word first letter in aeiouAEIOU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# append current word to vowels list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# else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# append to consonant list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7581900" y="9391650"/>
            <a:ext cx="53151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 Task 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test_string = </a:t>
            </a:r>
            <a:r>
              <a:rPr b="1" lang="en-GB" sz="1200">
                <a:solidFill>
                  <a:schemeClr val="dk1"/>
                </a:solidFill>
              </a:rPr>
              <a:t>"Python can mix and match."</a:t>
            </a:r>
            <a:br>
              <a:rPr b="1" lang="en-GB" sz="1200">
                <a:solidFill>
                  <a:schemeClr val="dk1"/>
                </a:solidFill>
              </a:rPr>
            </a:br>
            <a:r>
              <a:rPr b="1" lang="en-GB" sz="1200">
                <a:solidFill>
                  <a:schemeClr val="dk1"/>
                </a:solidFill>
              </a:rPr>
              <a:t> </a:t>
            </a:r>
            <a:r>
              <a:rPr lang="en-GB" sz="1200">
                <a:solidFill>
                  <a:schemeClr val="dk1"/>
                </a:solidFill>
              </a:rPr>
              <a:t>text_list = test_string.split() </a:t>
            </a:r>
            <a:r>
              <a:rPr i="1" lang="en-GB" sz="1200">
                <a:solidFill>
                  <a:schemeClr val="dk1"/>
                </a:solidFill>
              </a:rPr>
              <a:t># split by spacing</a:t>
            </a:r>
            <a:br>
              <a:rPr i="1" lang="en-GB" sz="1200">
                <a:solidFill>
                  <a:schemeClr val="dk1"/>
                </a:solidFill>
              </a:rPr>
            </a:br>
            <a:r>
              <a:rPr i="1" lang="en-GB" sz="1200">
                <a:solidFill>
                  <a:schemeClr val="dk1"/>
                </a:solidFill>
              </a:rPr>
              <a:t> </a:t>
            </a:r>
            <a:r>
              <a:rPr lang="en-GB" sz="1200">
                <a:solidFill>
                  <a:schemeClr val="dk1"/>
                </a:solidFill>
              </a:rPr>
              <a:t>text_length = []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</a:t>
            </a:r>
            <a:r>
              <a:rPr b="1" lang="en-GB" sz="1200">
                <a:solidFill>
                  <a:schemeClr val="dk1"/>
                </a:solidFill>
              </a:rPr>
              <a:t>for </a:t>
            </a:r>
            <a:r>
              <a:rPr lang="en-GB" sz="1200">
                <a:solidFill>
                  <a:schemeClr val="dk1"/>
                </a:solidFill>
              </a:rPr>
              <a:t>each </a:t>
            </a:r>
            <a:r>
              <a:rPr b="1" lang="en-GB" sz="1200">
                <a:solidFill>
                  <a:schemeClr val="dk1"/>
                </a:solidFill>
              </a:rPr>
              <a:t>in </a:t>
            </a:r>
            <a:r>
              <a:rPr lang="en-GB" sz="1200">
                <a:solidFill>
                  <a:schemeClr val="dk1"/>
                </a:solidFill>
              </a:rPr>
              <a:t>text_list: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	text_length.append((each, len(each)))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print(</a:t>
            </a:r>
            <a:r>
              <a:rPr b="1" lang="en-GB" sz="1200">
                <a:solidFill>
                  <a:schemeClr val="dk1"/>
                </a:solidFill>
              </a:rPr>
              <a:t>"The word and length pairs: "</a:t>
            </a:r>
            <a:r>
              <a:rPr lang="en-GB" sz="1200">
                <a:solidFill>
                  <a:schemeClr val="dk1"/>
                </a:solidFill>
              </a:rPr>
              <a:t>, text_length)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2 - Demo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0" y="3430200"/>
            <a:ext cx="56580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split_text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(sentence):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sentence = sentence.replace(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","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sentence = sentence.replace(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vowels = []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consonants = []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word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sentence.split():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word = word.lower()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word[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"aeiou"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vowels.append(word)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consonants.append(word)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vowels, consonants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sentence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"Enter a sentence:"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"Your name pls:"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vowels, consonants = split_text(sentence)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files_data = {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_vowels.txt"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vowels,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_consonant.txt"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consonants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file, data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files_data.items():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fp: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.join(data), </a:t>
            </a:r>
            <a:r>
              <a:rPr lang="en-GB" sz="120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=fp)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191250" y="2891550"/>
            <a:ext cx="72000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requests, webbrowser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url 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"https://pokeapi.co/api/v2/pokemon/"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response = requests.get(url)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poke_data = response.json()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check the data type of poke_data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(poke_data[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'results'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retrieve the name and url of pokes from ‘results’ key.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poke_names_url = {}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create a dictionary to keep the key and url.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poke_data[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'results'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poke_names_url[each[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]] = each[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'url'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 True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while loop to run the menu continuously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menu 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"Welcome to the world of Poke!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Welcome message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 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poke_names_url.keys():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for loop to loop through the names of poke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menu +=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"{:10}".format(var)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 %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menu +=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 +=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(menu)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#, end="\n")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selection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"Enter the name of poke:"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f"You have selection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you can see the details from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poke_names_url[selection]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"Press enter to open in browser..."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webbrowser.open(poke_names_url[selection])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"Continue? Y/N"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==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endParaRPr sz="1200">
              <a:solidFill>
                <a:srgbClr val="0033B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758275" y="9086850"/>
            <a:ext cx="88836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008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# Task 3</a:t>
            </a:r>
            <a:endParaRPr sz="1050">
              <a:solidFill>
                <a:srgbClr val="008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json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filename =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"humidity.txt"</a:t>
            </a:r>
            <a:endParaRPr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795E26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(filename,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'r'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00108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795E26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"humidity_json.json"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j_file: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data = </a:t>
            </a:r>
            <a:r>
              <a:rPr lang="en-GB" sz="1050">
                <a:solidFill>
                  <a:srgbClr val="00108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.readlines()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humidity = {}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index, line </a:t>
            </a:r>
            <a:r>
              <a:rPr lang="en-GB" sz="105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795E26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(data):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period, percent = line.strip().split()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index == </a:t>
            </a:r>
            <a:r>
              <a:rPr lang="en-GB" sz="1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humidity[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"Humidity Data"</a:t>
            </a:r>
            <a:endParaRPr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humidity[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'meta'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= {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'Period'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 period,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'Percent'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 percent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}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humidity[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'data'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= []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GB" sz="1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humidity[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'data'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].append({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'period'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 period,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en-GB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'percent'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 percent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})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json.dump(humidity, j_file, indent=</a:t>
            </a:r>
            <a:r>
              <a:rPr lang="en-GB" sz="1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3 - Demo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400050" y="3295650"/>
            <a:ext cx="6667500" cy="7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requests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bs4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BeautifulSoup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pandas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pd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with open("Week3_page1.html", "r") as r: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    soup = BeautifulSoup(r.read(), 'html.parser')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    print(soup.find("p"))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    print(soup.find("p"))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url 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"https://www.channelnewsasia.com/"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 = requests.get(url)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soup = BeautifulSoup(r.content,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'html.parser'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Utilize find_all to get the relevant tags from html file.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&lt;type class=“class_name”&gt; From the name of tags, fill in the relevant tags information below.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&lt;h6 class="h6 list-object__heading"&gt;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&lt;a class="h6__link list-object__heading-link" href="/singapore/pm-lawrence-wong-deliver-singapore-2025-budget-statement-parliament-feb-18-4912286"&gt;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Singapore’s 2025 Budget statement to be delivered on Feb 18 at 3.30pm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&lt;/a&gt;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&lt;/h6&gt;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Signature: find_all(name, attrs, recursive, text, limit, **kwargs)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data= soup.find_all(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"h6"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"h6 list-object__heading"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#print(data)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print(data) # Take a look at the output before proceed.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 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data: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loop through all data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# Get text from tag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each_title = each.text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Get the text information from each title.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each_title.strip()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print out the title one by one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 +=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 Scraping - Task 2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90866" y="33825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import requests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from bs4 import BeautifulSoup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import pandas as pd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url = "</a:t>
            </a:r>
            <a:r>
              <a:rPr lang="en-GB" sz="13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https://www.courts.com.sg/computing-mobile/tablets"</a:t>
            </a:r>
            <a:endParaRPr sz="13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r = requests.get(url)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soup = BeautifulSoup(r.content, 'html.parser')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#%%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# price = soup.find_all('span')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df = pd.DataFrame({})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# Tags for product title: &lt;h3 class="product name product-item-name" style="height: 129px;"&gt;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product_title = soup.find_all("</a:t>
            </a:r>
            <a:r>
              <a:rPr lang="en-GB" sz="13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h3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lang="en-GB" sz="13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 name product-item-name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")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print(product_title)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product_titles = </a:t>
            </a:r>
            <a:r>
              <a:rPr lang="en-GB" sz="13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[]</a:t>
            </a:r>
            <a:endParaRPr sz="13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for title in </a:t>
            </a:r>
            <a:r>
              <a:rPr lang="en-GB" sz="13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product_title:</a:t>
            </a:r>
            <a:endParaRPr sz="13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	# Get info from tag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	each_title = </a:t>
            </a:r>
            <a:r>
              <a:rPr lang="en-GB" sz="13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.text.strip()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GB" sz="13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product_titles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.append(each_title)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#%%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product_price_divs = soup.find_all("</a:t>
            </a:r>
            <a: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div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price-box price-final_price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")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latin typeface="Arial"/>
                <a:ea typeface="Arial"/>
                <a:cs typeface="Arial"/>
                <a:sym typeface="Arial"/>
              </a:rPr>
              <a:t> product_prices = </a:t>
            </a:r>
            <a: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[]</a:t>
            </a:r>
            <a:endParaRPr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latin typeface="Arial"/>
                <a:ea typeface="Arial"/>
                <a:cs typeface="Arial"/>
                <a:sym typeface="Arial"/>
              </a:rPr>
              <a:t> for div in product_price_divs: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# loop through all product titles</a:t>
            </a:r>
            <a:br>
              <a:rPr i="1" lang="en-GB">
                <a:latin typeface="Arial"/>
                <a:ea typeface="Arial"/>
                <a:cs typeface="Arial"/>
                <a:sym typeface="Arial"/>
              </a:rPr>
            </a:br>
            <a:r>
              <a:rPr i="1" lang="en-GB">
                <a:latin typeface="Arial"/>
                <a:ea typeface="Arial"/>
                <a:cs typeface="Arial"/>
                <a:sym typeface="Arial"/>
              </a:rPr>
              <a:t> 	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each_price = div.find("</a:t>
            </a:r>
            <a: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span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price-wrapper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")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latin typeface="Arial"/>
                <a:ea typeface="Arial"/>
                <a:cs typeface="Arial"/>
                <a:sym typeface="Arial"/>
              </a:rPr>
              <a:t> 	print(</a:t>
            </a:r>
            <a: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each_price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.get("</a:t>
            </a:r>
            <a:r>
              <a:rPr lang="en-GB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data-price-amount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"))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latin typeface="Arial"/>
                <a:ea typeface="Arial"/>
                <a:cs typeface="Arial"/>
                <a:sym typeface="Arial"/>
              </a:rPr>
              <a:t> 	product_prices.append(each_price)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# append each title to the list.</a:t>
            </a:r>
            <a:br>
              <a:rPr i="1" lang="en-GB">
                <a:latin typeface="Arial"/>
                <a:ea typeface="Arial"/>
                <a:cs typeface="Arial"/>
                <a:sym typeface="Arial"/>
              </a:rPr>
            </a:br>
            <a:r>
              <a:rPr i="1"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product_prices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 Scraping - Task 2 (cont’)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29545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183333"/>
              <a:buFont typeface="Arial"/>
              <a:buNone/>
            </a:pPr>
            <a:r>
              <a:rPr lang="en-GB" sz="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GB" sz="6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6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get_soup</a:t>
            </a:r>
            <a:r>
              <a:rPr lang="en-GB" sz="6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GB" sz="600"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r = requests.get(url)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soup = BeautifulSoup(r.content,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'html.parser'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soup</a:t>
            </a:r>
            <a:br>
              <a:rPr lang="en-GB" sz="1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get_products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soup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tagname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soup.find_all(tagname, classname):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    result.append(each.text.strip())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result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get_prices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soup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tagname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subtag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subclass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attributename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soup.find_all(tagname, classname):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    tag = each.find(subtag, subclass)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    result.append(</a:t>
            </a:r>
            <a:r>
              <a:rPr lang="en-GB" sz="1000">
                <a:solidFill>
                  <a:srgbClr val="257693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(tag.get(attributename)))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result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br>
              <a:rPr lang="en-GB" sz="1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web_url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"https://www.courts.com.sg/computing-mobile/laptops/windows-laptop"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soup = get_soup(web_url)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tagname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"h3"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classname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"product name product-item-name"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result = []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result= get_products(soup, tagname, classname, result)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br>
              <a:rPr lang="en-GB" sz="1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 tagname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"div"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classname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"price-box price-final_price"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subtag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"span"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subclass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"price-wrapper"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attributename = </a:t>
            </a:r>
            <a:r>
              <a:rPr lang="en-GB" sz="100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"data-price-amount"</a:t>
            </a:r>
            <a:endParaRPr sz="1000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result_prices = []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result_prices = get_prices(soup, tagname, classname, subtag, subclass, attributename, result_prices)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-GB" sz="10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(result), result)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(result_prices), result_prices)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#%%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product_titles = []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prices = []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solidFill>
                  <a:srgbClr val="0033B3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r>
              <a:rPr lang="en-GB">
                <a:solidFill>
                  <a:srgbClr val="0033B3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GB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(2,4):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	url = </a:t>
            </a:r>
            <a:r>
              <a:rPr b="1" lang="en-GB">
                <a:solidFill>
                  <a:srgbClr val="008080"/>
                </a:solidFill>
                <a:latin typeface="Arial"/>
                <a:ea typeface="Arial"/>
                <a:cs typeface="Arial"/>
                <a:sym typeface="Arial"/>
              </a:rPr>
              <a:t>" https://www.courts.com.sg/computing-mobile/tablets?p= " 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GB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(page)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	soup = get_soup_from_url(url)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	product_titles = get_titles(soup, product_titles)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	prices = get_prices(soup, prices)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df = pd.DataFrame({})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df[</a:t>
            </a:r>
            <a:r>
              <a:rPr b="1" lang="en-GB">
                <a:solidFill>
                  <a:srgbClr val="008080"/>
                </a:solidFill>
                <a:latin typeface="Arial"/>
                <a:ea typeface="Arial"/>
                <a:cs typeface="Arial"/>
                <a:sym typeface="Arial"/>
              </a:rPr>
              <a:t>'product_titles'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] = product_titles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df[</a:t>
            </a:r>
            <a:r>
              <a:rPr b="1" lang="en-GB">
                <a:solidFill>
                  <a:srgbClr val="008080"/>
                </a:solidFill>
                <a:latin typeface="Arial"/>
                <a:ea typeface="Arial"/>
                <a:cs typeface="Arial"/>
                <a:sym typeface="Arial"/>
              </a:rPr>
              <a:t>'each_price'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] = prices</a:t>
            </a:r>
            <a:b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GB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#%%</a:t>
            </a:r>
            <a:br>
              <a:rPr i="1" lang="en-GB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i="1" lang="en-GB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GB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df.to_csv(</a:t>
            </a:r>
            <a:r>
              <a:rPr b="1" lang="en-GB">
                <a:solidFill>
                  <a:srgbClr val="008080"/>
                </a:solidFill>
                <a:latin typeface="Arial"/>
                <a:ea typeface="Arial"/>
                <a:cs typeface="Arial"/>
                <a:sym typeface="Arial"/>
              </a:rPr>
              <a:t>”tablet_prices.csv"</a:t>
            </a:r>
            <a:r>
              <a:rPr lang="en-GB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9545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	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5- OOP Demo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02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02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name, email=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.name = name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.email = email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02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introduction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2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f"I'm 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.name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email: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.email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02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__str__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.name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representation."</a:t>
            </a:r>
            <a:endParaRPr sz="102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02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02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(Person):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02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name=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matric=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email=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2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n-GB" sz="102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(name, email)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.matric = matric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02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__str__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2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f"I'm a full time student 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.name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matric=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02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.matric</a:t>
            </a:r>
            <a:r>
              <a:rPr lang="en-GB" sz="102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02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i="1" lang="en-GB" sz="102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#############################################################</a:t>
            </a:r>
            <a:endParaRPr i="1" sz="102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john = Person(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"John"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john.introduction()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mary = Person(</a:t>
            </a:r>
            <a:r>
              <a:rPr lang="en-GB" sz="102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"Mary"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2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"mary@gmail.com"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mary.introduction()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2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(mary), mary)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(john)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jimmy = Student(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"Jimmy"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2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matric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2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"U201729A"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02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2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(jimmy)</a:t>
            </a:r>
            <a:endParaRPr sz="102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5 - OOP Cont (Task 2)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News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news):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.news_headline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.news_article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.news_category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.full_text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.clean_text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.words =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.full_text)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f"&lt;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.words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words&gt; in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.news_category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.news_headline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FinanceNews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news):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Symbol,news_headline,news_article,news_category,full_text,clean_text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.symbol = news[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GB" sz="1200">
                <a:solidFill>
                  <a:srgbClr val="B200B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__str__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.symbol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&lt;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.words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words&gt; in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.news_category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94558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.news_headline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news_instances = []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"news.csv"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csv_pointer = csv.reader(f)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line_no  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csv_pointer: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line_no !=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news_obj = News(line)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news_instances.append(news_obj)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line_no +=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"finance_news.csv"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6600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csv_pointer = csv.reader(f)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line_no  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csv_pointer: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line_no !=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news_obj = FinanceNews(line)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news_instances.append(news_obj)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line_no +=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>
              <a:solidFill>
                <a:srgbClr val="1750E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(news_instances[i])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(news_instances[-i])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6 - OS &amp; DB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(random.randrange(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Discuss at 11:15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salaries = [random.randrange(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salary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salaries_high = [salary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salary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salaries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salary &gt;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4500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salaries_high_format = [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f"$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salary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,.0f</a:t>
            </a:r>
            <a:r>
              <a:rPr lang="en-GB" sz="1200">
                <a:solidFill>
                  <a:srgbClr val="0037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salary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salaries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salary &gt; 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4500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"Salaries:"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salaries)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"Selected Salaries: 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salaries_high_format)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sqlite3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establish connection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conn = sqlite3.connect(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"salaries.db"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get cursor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cursor = conn.cursor()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8C8C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SQL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SQL_stmt = 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 sz="1200">
                <a:solidFill>
                  <a:srgbClr val="067D17"/>
                </a:solidFill>
                <a:highlight>
                  <a:srgbClr val="EDFCED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salaryTable;</a:t>
            </a:r>
            <a:r>
              <a:rPr lang="en-GB" sz="12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cursor.execute(SQL_stmt)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each </a:t>
            </a:r>
            <a:r>
              <a:rPr lang="en-GB" sz="12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cursor.fetchall():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(each[:</a:t>
            </a:r>
            <a:r>
              <a:rPr lang="en-GB" sz="12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2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7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90880" y="3430200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A2BFC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F6CC7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900">
                <a:solidFill>
                  <a:srgbClr val="A2BFC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900">
                <a:solidFill>
                  <a:srgbClr val="97C892"/>
                </a:solidFill>
                <a:latin typeface="Courier New"/>
                <a:ea typeface="Courier New"/>
                <a:cs typeface="Courier New"/>
                <a:sym typeface="Courier New"/>
              </a:rPr>
              <a:t>"employee.csv"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900">
              <a:solidFill>
                <a:srgbClr val="C3D6E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i="1" lang="en-GB" sz="1900">
                <a:solidFill>
                  <a:srgbClr val="BCD8E7"/>
                </a:solidFill>
                <a:latin typeface="Courier New"/>
                <a:ea typeface="Courier New"/>
                <a:cs typeface="Courier New"/>
                <a:sym typeface="Courier New"/>
              </a:rPr>
              <a:t># records, cols</a:t>
            </a:r>
            <a:endParaRPr i="1" sz="1900">
              <a:solidFill>
                <a:srgbClr val="BCD8E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900">
                <a:solidFill>
                  <a:srgbClr val="97C892"/>
                </a:solidFill>
                <a:latin typeface="Courier New"/>
                <a:ea typeface="Courier New"/>
                <a:cs typeface="Courier New"/>
                <a:sym typeface="Courier New"/>
              </a:rPr>
              <a:t>"records, cols:"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900">
                <a:solidFill>
                  <a:srgbClr val="DC8255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900">
              <a:solidFill>
                <a:srgbClr val="C3D6E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i="1" lang="en-GB" sz="1900">
                <a:solidFill>
                  <a:srgbClr val="BCD8E7"/>
                </a:solidFill>
                <a:latin typeface="Courier New"/>
                <a:ea typeface="Courier New"/>
                <a:cs typeface="Courier New"/>
                <a:sym typeface="Courier New"/>
              </a:rPr>
              <a:t># duplicates</a:t>
            </a:r>
            <a:endParaRPr i="1" sz="1900">
              <a:solidFill>
                <a:srgbClr val="BCD8E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900">
                <a:solidFill>
                  <a:srgbClr val="97C892"/>
                </a:solidFill>
                <a:latin typeface="Courier New"/>
                <a:ea typeface="Courier New"/>
                <a:cs typeface="Courier New"/>
                <a:sym typeface="Courier New"/>
              </a:rPr>
              <a:t>"duplicates:"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duplicated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()].</a:t>
            </a:r>
            <a:r>
              <a:rPr lang="en-GB" sz="1900">
                <a:solidFill>
                  <a:srgbClr val="DC8255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DC825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900">
              <a:solidFill>
                <a:srgbClr val="C3D6E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i="1" lang="en-GB" sz="1900">
                <a:solidFill>
                  <a:srgbClr val="BCD8E7"/>
                </a:solidFill>
                <a:latin typeface="Courier New"/>
                <a:ea typeface="Courier New"/>
                <a:cs typeface="Courier New"/>
                <a:sym typeface="Courier New"/>
              </a:rPr>
              <a:t># same employee No.</a:t>
            </a:r>
            <a:endParaRPr i="1" sz="1900">
              <a:solidFill>
                <a:srgbClr val="BCD8E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900">
                <a:solidFill>
                  <a:srgbClr val="97C892"/>
                </a:solidFill>
                <a:latin typeface="Courier New"/>
                <a:ea typeface="Courier New"/>
                <a:cs typeface="Courier New"/>
                <a:sym typeface="Courier New"/>
              </a:rPr>
              <a:t>"same employee no.:"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97C892"/>
                </a:solidFill>
                <a:latin typeface="Courier New"/>
                <a:ea typeface="Courier New"/>
                <a:cs typeface="Courier New"/>
                <a:sym typeface="Courier New"/>
              </a:rPr>
              <a:t>'EmployeeNumber'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duplicated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()].</a:t>
            </a:r>
            <a:r>
              <a:rPr lang="en-GB" sz="1900">
                <a:solidFill>
                  <a:srgbClr val="DC8255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DC825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900">
              <a:solidFill>
                <a:srgbClr val="C3D6E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i="1" lang="en-GB" sz="1900">
                <a:solidFill>
                  <a:srgbClr val="BCD8E7"/>
                </a:solidFill>
                <a:latin typeface="Courier New"/>
                <a:ea typeface="Courier New"/>
                <a:cs typeface="Courier New"/>
                <a:sym typeface="Courier New"/>
              </a:rPr>
              <a:t># null records</a:t>
            </a:r>
            <a:endParaRPr i="1" sz="1900">
              <a:solidFill>
                <a:srgbClr val="BCD8E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900">
                <a:solidFill>
                  <a:srgbClr val="97C892"/>
                </a:solidFill>
                <a:latin typeface="Courier New"/>
                <a:ea typeface="Courier New"/>
                <a:cs typeface="Courier New"/>
                <a:sym typeface="Courier New"/>
              </a:rPr>
              <a:t>"null records:"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EE5D75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900">
                <a:solidFill>
                  <a:srgbClr val="5FB2DF"/>
                </a:solidFill>
                <a:latin typeface="Courier New"/>
                <a:ea typeface="Courier New"/>
                <a:cs typeface="Courier New"/>
                <a:sym typeface="Courier New"/>
              </a:rPr>
              <a:t>isna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()].</a:t>
            </a:r>
            <a:r>
              <a:rPr lang="en-GB" sz="1900">
                <a:solidFill>
                  <a:srgbClr val="DC8255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DC825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900">
                <a:solidFill>
                  <a:srgbClr val="C3D6E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900">
              <a:solidFill>
                <a:srgbClr val="C3D6E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884"/>
              <a:buFont typeface="Arial"/>
              <a:buNone/>
            </a:pPr>
            <a:r>
              <a:rPr b="1" lang="en-GB" sz="3450">
                <a:latin typeface="Courier New"/>
                <a:ea typeface="Courier New"/>
                <a:cs typeface="Courier New"/>
                <a:sym typeface="Courier New"/>
              </a:rPr>
              <a:t>records, cols: (8687, 37)</a:t>
            </a:r>
            <a:endParaRPr b="1" sz="3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884"/>
              <a:buFont typeface="Arial"/>
              <a:buNone/>
            </a:pPr>
            <a:r>
              <a:rPr b="1" lang="en-GB" sz="3450">
                <a:latin typeface="Courier New"/>
                <a:ea typeface="Courier New"/>
                <a:cs typeface="Courier New"/>
                <a:sym typeface="Courier New"/>
              </a:rPr>
              <a:t>duplicates: 14</a:t>
            </a:r>
            <a:endParaRPr b="1" sz="3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884"/>
              <a:buFont typeface="Arial"/>
              <a:buNone/>
            </a:pPr>
            <a:r>
              <a:rPr b="1" lang="en-GB" sz="3450">
                <a:latin typeface="Courier New"/>
                <a:ea typeface="Courier New"/>
                <a:cs typeface="Courier New"/>
                <a:sym typeface="Courier New"/>
              </a:rPr>
              <a:t>same employee no.: 31</a:t>
            </a:r>
            <a:endParaRPr b="1" sz="3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884"/>
              <a:buFont typeface="Arial"/>
              <a:buNone/>
            </a:pPr>
            <a:r>
              <a:rPr b="1" lang="en-GB" sz="3450">
                <a:latin typeface="Courier New"/>
                <a:ea typeface="Courier New"/>
                <a:cs typeface="Courier New"/>
                <a:sym typeface="Courier New"/>
              </a:rPr>
              <a:t>null records: 8687</a:t>
            </a:r>
            <a:endParaRPr b="1" sz="3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C3D6E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conversion_rate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1.35</a:t>
            </a:r>
            <a:endParaRPr sz="1900">
              <a:solidFill>
                <a:srgbClr val="B5CEA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'DailyRate_SGD'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GB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9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9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GB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conversion_rate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'DailyRate'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]))</a:t>
            </a:r>
            <a:endParaRPr sz="19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t/>
            </a:r>
            <a:endParaRPr sz="19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'WorkLifeBalance'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"WorkLifeBalance"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GB" sz="1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sz="1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"Bad"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"Good"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"Better"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"Best"</a:t>
            </a:r>
            <a:r>
              <a:rPr lang="en-GB" sz="1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9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GB" sz="1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"MonthlyIncome"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GB" sz="1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"Married"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GB" sz="1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"MonthlyIncome"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Monthly Income contains Married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Low Environment satisfaction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1000" y="10784250"/>
            <a:ext cx="3344174" cy="29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3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Task 2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Q1 - 8687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Q2 - 37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Q3 - 14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Q4 - 31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Q5 - 139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Workings: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df.shape #No. of records, no. of 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df.duplicated().sum() #no. of duplicated records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df.EmployeeNumber.duplicated().sum() #no. of duplicated Employee Number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df.isna().sum().sum() #no. of missing records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6 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Q1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8687 records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Q2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37 columns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Q3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14 duplicated records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Q4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31 records with same EmployeeNumber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Q5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employee.isna().sum()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4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print(len(df))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#8687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print(df.shape[1])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#37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print(df.duplicated().sum())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#14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print(df.EmployeeNumber.duplicated().sum())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#31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print(df.isna().sum())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4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8687 records</a:t>
            </a:r>
            <a:endParaRPr sz="21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37 columns</a:t>
            </a:r>
            <a:endParaRPr sz="21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14 duplicated records</a:t>
            </a:r>
            <a:endParaRPr sz="21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31 duplicated records with same EmployeeNumber</a:t>
            </a:r>
            <a:endParaRPr sz="21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139 null records</a:t>
            </a:r>
            <a:endParaRPr sz="21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4999"/>
              <a:buFont typeface="Arial"/>
              <a:buNone/>
            </a:pPr>
            <a:r>
              <a:t/>
            </a:r>
            <a:endParaRPr sz="1467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num_records = df1.shape[0]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print(num_records)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t/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num_columns = df1.shape[1]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print(num_columns)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t/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num_duplicated_records = df1.duplicated().sum()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print(num_duplicated_records)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t/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num_duplicated_employee_numbers = df1.duplicated(subset=["EmployeeNumber"]).sum()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print(num_duplicated_employee_numbers)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t/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num_null_records = df1.isnull().sum().sum()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209"/>
              <a:buFont typeface="Arial"/>
              <a:buNone/>
            </a:pPr>
            <a:r>
              <a:rPr lang="en-GB" sz="1992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print(num_null_records)</a:t>
            </a:r>
            <a:endParaRPr sz="1992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8 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pandas </a:t>
            </a:r>
            <a:r>
              <a:rPr lang="en-GB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pd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df = pd.read_csv(</a:t>
            </a:r>
            <a:r>
              <a:rPr lang="en-GB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"employee.csv"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"Number of rows:"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(df))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8687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"Number of columns:"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(df.columns))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duplicate_rows = df[df.duplicated()]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(duplicate_rows)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"Number of duplicate rows:"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(duplicate_rows))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duplicate_id = df[</a:t>
            </a:r>
            <a:r>
              <a:rPr lang="en-GB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"EmployeeNumber"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].duplicated()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(duplicate_id)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"Number of duplicate EmployeeNumbers:"</a:t>
            </a:r>
            <a:r>
              <a:rPr lang="en-GB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duplicate_id.sum())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2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490866" y="3430201"/>
            <a:ext cx="13418400" cy="99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GB" sz="1600"/>
              <a:t>import pandas as pd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600"/>
              <a:t>Task 2: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df = pd.read_csv("employee.txt")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df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# 1. Number of records 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num_records = df.shape[0]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GB" sz="1600"/>
              <a:t># 8687 records, 37 columns</a:t>
            </a:r>
            <a:endParaRPr b="1"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# 2. Number of columns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num_columns = df.shape[1 ]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GB" sz="1600"/>
              <a:t>#37</a:t>
            </a:r>
            <a:endParaRPr b="1"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# 3. Number of fully duplicate 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num_exact_duplicates = df.duplicated().sum()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GB" sz="1600"/>
              <a:t># 14</a:t>
            </a:r>
            <a:endParaRPr b="1"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# 4. Number of rows that share the same EmployeeNumber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num_dup_empnumber = df["EmployeeNumber"].duplicated().sum()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GB" sz="1600"/>
              <a:t>#31</a:t>
            </a:r>
            <a:endParaRPr b="1"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# 5. Missing values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missing_by_column = df.isna().sum()       # Missing values per column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600"/>
              <a:t>total_missing = missing_by_column.sum()   # Total missing values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GB" sz="1600"/>
              <a:t># Number of null records: 139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5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1. How many records are there in this data file?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Ans: 8687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2. How many columns are there in this data file?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Ans: 37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3. Any duplicated records (records with all columns same values)? How many of them?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Ans: 14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4. Any records with the same EmployeeNumber? How many of them? 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Ans: 31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5. Are there any null records? If so, how many of them? 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Ans: 139</a:t>
            </a:r>
            <a:endParaRPr sz="2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7 - Employee.csv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See speaker notes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490866" y="884479"/>
            <a:ext cx="134184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 Programming - Flask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490866" y="3430201"/>
            <a:ext cx="13418400" cy="9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85" y="3430200"/>
            <a:ext cx="13418400" cy="1004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